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75"/>
  </p:normalViewPr>
  <p:slideViewPr>
    <p:cSldViewPr snapToGrid="0">
      <p:cViewPr varScale="1">
        <p:scale>
          <a:sx n="53" d="100"/>
          <a:sy n="53" d="100"/>
        </p:scale>
        <p:origin x="168" y="1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C4DA-74F2-95DC-A829-8837619D4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1D517-6CF2-E42F-AD5E-D93BDE662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721E3-2BDB-2A16-6F57-06F65681B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F640-FA68-C847-AC85-D91FE04A1E1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DAC5F-2DC3-875C-11A3-EFCCF6225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8CD3B-FFEE-3461-0EDE-3F74BEFC2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004A-11E8-0744-B4A8-73C09D243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9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0411-9ADA-D015-50CC-2B5ED34DD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319F1-6BFB-83F2-3A72-FE5E064D8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7BBEC-DD35-CE9D-5E1A-2EDBFC636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F640-FA68-C847-AC85-D91FE04A1E1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F1A1B-054E-792C-AAB8-F4B6EC6E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2A27A-E2E6-3D70-A8EF-CE90E3E2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004A-11E8-0744-B4A8-73C09D243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10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7C43-A8F6-3979-38E1-6108EC9F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9305A-F8B0-E17B-A802-BDFD0068C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CE129-3594-79BC-6D7B-925B7DDD2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F640-FA68-C847-AC85-D91FE04A1E1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445E8-E4B8-F950-A285-D04C68DD7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9E215-76C3-A410-E7DE-5298F611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004A-11E8-0744-B4A8-73C09D243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47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2934-D77C-351A-B87F-4045C46F9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1ACA5-F84B-202C-75B1-D4E9B7D066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7B3A8-2BC0-EC8C-EF9C-BC7BADFD9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CF9D3-2CF5-928C-B864-F79973B75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F640-FA68-C847-AC85-D91FE04A1E1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2DA64-F572-E9DB-485C-3F0410836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B6484-A679-1B48-7267-26681C76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004A-11E8-0744-B4A8-73C09D243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33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496F-AB1D-2734-32E5-383CBA7F3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660A3-A99A-7BFA-2E74-D672DCBCD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98010-CEB0-F422-6C07-FB40CB5F8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3EE5A3-11F9-6D80-792D-3A2E1BFEA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91BF8C-FCC7-CB32-39CF-1C6F9892E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16C011-2B9E-DC51-5463-19A92025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F640-FA68-C847-AC85-D91FE04A1E1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2AA0-A39F-D703-5D39-635963C75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451707-CD90-DBFB-64BB-1ECB4C53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004A-11E8-0744-B4A8-73C09D243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80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DBC36-4561-7748-9A9D-7B051189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0D19DC-5F2F-20E3-C3B5-2AF2BFBF7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F640-FA68-C847-AC85-D91FE04A1E1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17729A-2D70-B76F-93B7-92DAD5B35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F4047-833F-C4A1-D912-AB3C5749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004A-11E8-0744-B4A8-73C09D243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98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A26A05-5A38-FE44-7534-950DCD29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F640-FA68-C847-AC85-D91FE04A1E1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FFF3D7-F7E0-CA67-4169-371308E15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11264-4480-D1A2-1611-648E9411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004A-11E8-0744-B4A8-73C09D243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27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922B4-25F3-BFE0-50F1-6444E7BD3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F2DA5-B974-F63A-6186-AF60E2A1F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17689-1B20-A685-ACDC-204CF776A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B17DF-2CBF-5856-7DFE-B5A748FE1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F640-FA68-C847-AC85-D91FE04A1E1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DD74B-F5CB-70DC-2592-5F22BB4F6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F6039-796D-35DC-9768-2F57756B9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004A-11E8-0744-B4A8-73C09D243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42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9041-A547-DD55-60D6-11304B680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B035F9-ABB4-151C-888E-8093C2B9E7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596DB-58F5-F801-1051-22434EF31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C16F2-7AD0-49AD-9B55-DFB0D4239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F640-FA68-C847-AC85-D91FE04A1E1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7C384-3B2B-FF3F-8220-8E5063DA0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75325-ADA1-2DF1-3771-D8859A66F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004A-11E8-0744-B4A8-73C09D243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91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A9848-628F-3E47-FB80-D73D39906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62BC4-80DE-C2D9-CC1E-86867026F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818C2-4014-6C2A-4841-06DE01E12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F640-FA68-C847-AC85-D91FE04A1E1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3E9FD-9871-A99A-FC96-C9F0C3CB0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25357-A118-5ADE-19A6-FA334F4F6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004A-11E8-0744-B4A8-73C09D243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16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EE6979-98B7-BBF9-CDFC-387D6CBCF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0DD5A-9157-47BD-8F44-BE165C395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4DBD9-85A8-548A-CCE8-F33BCA01D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F640-FA68-C847-AC85-D91FE04A1E1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2BCC4-501D-0CA9-3259-19679F32C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1CBB7-DFA3-C70F-D7E5-54BBCA58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D004A-11E8-0744-B4A8-73C09D243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51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7A4B3A-E0CF-DA26-3E13-41D402634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EB698-785C-9F4A-0DED-596A3A001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EE035-B352-E7D7-498E-F2F4ECB8A9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1F640-FA68-C847-AC85-D91FE04A1E1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8982F-D6E1-AC1C-2EEB-98F1BCD4D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41CB2-FD05-1C32-3441-2B6C9105C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D004A-11E8-0744-B4A8-73C09D243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5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5F402A-8607-CECA-4B54-D472025CDA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09075"/>
            <a:ext cx="11454063" cy="6015788"/>
          </a:xfrm>
        </p:spPr>
        <p:txBody>
          <a:bodyPr/>
          <a:lstStyle/>
          <a:p>
            <a:r>
              <a:rPr lang="en-IN" sz="3000" b="1" dirty="0">
                <a:latin typeface="+mj-lt"/>
              </a:rPr>
              <a:t>How the System Works (Part 1)</a:t>
            </a:r>
          </a:p>
          <a:p>
            <a:pPr algn="l"/>
            <a:r>
              <a:rPr lang="en-IN" b="1" dirty="0"/>
              <a:t>AI-Powered Collections System</a:t>
            </a:r>
          </a:p>
          <a:p>
            <a:pPr algn="l"/>
            <a:r>
              <a:rPr lang="en-IN" sz="2200" dirty="0"/>
              <a:t>Collect customer information, including credit score, income, credit utilisation, payment history, debt-to-income ratio, and account tenure.</a:t>
            </a:r>
          </a:p>
          <a:p>
            <a:pPr algn="l"/>
            <a:r>
              <a:rPr lang="en-IN" sz="2200" dirty="0"/>
              <a:t>Clean and prepare the data before sending it to the predictive model for analysis.</a:t>
            </a:r>
          </a:p>
          <a:p>
            <a:pPr algn="l"/>
            <a:r>
              <a:rPr lang="en-IN" sz="2200" dirty="0"/>
              <a:t>Use a </a:t>
            </a:r>
            <a:r>
              <a:rPr lang="en-IN" sz="2200" b="1" dirty="0"/>
              <a:t>Random Forest</a:t>
            </a:r>
            <a:r>
              <a:rPr lang="en-IN" sz="2200" dirty="0"/>
              <a:t> model to analyse customer financial behaviour and estimate the risk of delinquency.</a:t>
            </a:r>
          </a:p>
          <a:p>
            <a:pPr algn="l"/>
            <a:r>
              <a:rPr lang="en-IN" sz="2200" dirty="0"/>
              <a:t>Calculate a risk score for each customer based on key financial and repayment factors.</a:t>
            </a:r>
          </a:p>
          <a:p>
            <a:pPr algn="l"/>
            <a:r>
              <a:rPr lang="en-IN" sz="2200" dirty="0"/>
              <a:t>Classify customers into </a:t>
            </a:r>
            <a:r>
              <a:rPr lang="en-IN" sz="2200" b="1" dirty="0"/>
              <a:t>Low</a:t>
            </a:r>
            <a:r>
              <a:rPr lang="en-IN" sz="2200" dirty="0"/>
              <a:t>, </a:t>
            </a:r>
            <a:r>
              <a:rPr lang="en-IN" sz="2200" b="1" dirty="0"/>
              <a:t>Medium</a:t>
            </a:r>
            <a:r>
              <a:rPr lang="en-IN" sz="2200" dirty="0"/>
              <a:t>, or </a:t>
            </a:r>
            <a:r>
              <a:rPr lang="en-IN" sz="2200" b="1" dirty="0"/>
              <a:t>High Risk</a:t>
            </a:r>
            <a:r>
              <a:rPr lang="en-IN" sz="2200" dirty="0"/>
              <a:t> groups according to their predicted likelihood of delinquency.</a:t>
            </a:r>
          </a:p>
          <a:p>
            <a:pPr algn="l"/>
            <a:r>
              <a:rPr lang="en-IN" sz="2200" dirty="0"/>
              <a:t>Send the risk classification to the collections system to support the next stage of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775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C1F63-F99F-C493-2036-A19FDBEBA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457199"/>
            <a:ext cx="11237494" cy="57197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3000" b="1" dirty="0">
                <a:latin typeface="+mj-lt"/>
              </a:rPr>
              <a:t>                                      How the System Works (Part 2)</a:t>
            </a:r>
          </a:p>
          <a:p>
            <a:pPr marL="0" indent="0">
              <a:buNone/>
            </a:pPr>
            <a:r>
              <a:rPr lang="en-IN" sz="2400" b="1" dirty="0"/>
              <a:t>AI-Powered Collections Workflow</a:t>
            </a:r>
          </a:p>
          <a:p>
            <a:r>
              <a:rPr lang="en-IN" sz="2200" dirty="0"/>
              <a:t>Apply business rules and the predicted risk score to determine the most suitable collection strategy.</a:t>
            </a:r>
          </a:p>
          <a:p>
            <a:r>
              <a:rPr lang="en-IN" sz="2200" dirty="0"/>
              <a:t>Automatically send payment reminders or repayment options to low- and medium-risk customers.</a:t>
            </a:r>
          </a:p>
          <a:p>
            <a:r>
              <a:rPr lang="en-IN" sz="2200" dirty="0"/>
              <a:t>Escalate high-risk or complex cases to the Collections team for review and personalised support.</a:t>
            </a:r>
          </a:p>
          <a:p>
            <a:r>
              <a:rPr lang="en-IN" sz="2200" dirty="0"/>
              <a:t>Record customer responses, repayment behaviour, and intervention outcomes.</a:t>
            </a:r>
          </a:p>
          <a:p>
            <a:r>
              <a:rPr lang="en-IN" sz="2200" dirty="0"/>
              <a:t>Continuously update the predictive model using new data to improve future decisions.</a:t>
            </a:r>
          </a:p>
          <a:p>
            <a:r>
              <a:rPr lang="en-IN" sz="2200" dirty="0"/>
              <a:t>Monitor system performance regularly to maintain accuracy and effectiveness</a:t>
            </a:r>
            <a:r>
              <a:rPr lang="en-IN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947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E379C-5E88-E547-705A-D94745658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/>
              <a:t>Role of Agentic AI</a:t>
            </a:r>
            <a:endParaRPr lang="en-US" sz="3000" b="1" dirty="0"/>
          </a:p>
        </p:txBody>
      </p:sp>
      <p:graphicFrame>
        <p:nvGraphicFramePr>
          <p:cNvPr id="22" name="Content Placeholder 21">
            <a:extLst>
              <a:ext uri="{FF2B5EF4-FFF2-40B4-BE49-F238E27FC236}">
                <a16:creationId xmlns:a16="http://schemas.microsoft.com/office/drawing/2014/main" id="{C74C6F6A-CFBE-88A9-4CC3-2A1096C7BB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3989095"/>
              </p:ext>
            </p:extLst>
          </p:nvPr>
        </p:nvGraphicFramePr>
        <p:xfrm>
          <a:off x="3364832" y="1467853"/>
          <a:ext cx="7391400" cy="3429000"/>
        </p:xfrm>
        <a:graphic>
          <a:graphicData uri="http://schemas.openxmlformats.org/drawingml/2006/table">
            <a:tbl>
              <a:tblPr/>
              <a:tblGrid>
                <a:gridCol w="3695700">
                  <a:extLst>
                    <a:ext uri="{9D8B030D-6E8A-4147-A177-3AD203B41FA5}">
                      <a16:colId xmlns:a16="http://schemas.microsoft.com/office/drawing/2014/main" val="3025244935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115859513"/>
                    </a:ext>
                  </a:extLst>
                </a:gridCol>
              </a:tblGrid>
              <a:tr h="56213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b="0" i="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b="0" i="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212660"/>
                  </a:ext>
                </a:extLst>
              </a:tr>
              <a:tr h="56213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b="0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b="0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818914"/>
                  </a:ext>
                </a:extLst>
              </a:tr>
              <a:tr h="61834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b="0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b="0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656433"/>
                  </a:ext>
                </a:extLst>
              </a:tr>
              <a:tr h="56213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b="0" i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b="0" i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509325"/>
                  </a:ext>
                </a:extLst>
              </a:tr>
              <a:tr h="56213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b="0" i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b="0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785641"/>
                  </a:ext>
                </a:extLst>
              </a:tr>
              <a:tr h="56213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b="0" i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b="0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160722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4DEBFDF-4174-6224-1FEA-9DDCE6BB6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29960"/>
              </p:ext>
            </p:extLst>
          </p:nvPr>
        </p:nvGraphicFramePr>
        <p:xfrm>
          <a:off x="2275305" y="1690687"/>
          <a:ext cx="7641390" cy="3988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695">
                  <a:extLst>
                    <a:ext uri="{9D8B030D-6E8A-4147-A177-3AD203B41FA5}">
                      <a16:colId xmlns:a16="http://schemas.microsoft.com/office/drawing/2014/main" val="3390804257"/>
                    </a:ext>
                  </a:extLst>
                </a:gridCol>
                <a:gridCol w="3820695">
                  <a:extLst>
                    <a:ext uri="{9D8B030D-6E8A-4147-A177-3AD203B41FA5}">
                      <a16:colId xmlns:a16="http://schemas.microsoft.com/office/drawing/2014/main" val="4038676321"/>
                    </a:ext>
                  </a:extLst>
                </a:gridCol>
              </a:tblGrid>
              <a:tr h="67278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 b="1" i="0" dirty="0">
                          <a:solidFill>
                            <a:schemeClr val="tx1"/>
                          </a:solidFill>
                          <a:effectLst/>
                        </a:rPr>
                        <a:t>Autonomous AI</a:t>
                      </a:r>
                      <a:endParaRPr lang="en-IN" sz="24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 b="1" i="0" dirty="0">
                          <a:solidFill>
                            <a:schemeClr val="tx1"/>
                          </a:solidFill>
                          <a:effectLst/>
                        </a:rPr>
                        <a:t>Human Oversight</a:t>
                      </a:r>
                      <a:endParaRPr lang="en-IN" sz="24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600807"/>
                  </a:ext>
                </a:extLst>
              </a:tr>
              <a:tr h="67278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200" b="0" i="0" dirty="0">
                          <a:solidFill>
                            <a:schemeClr val="tx1"/>
                          </a:solidFill>
                          <a:effectLst/>
                        </a:rPr>
                        <a:t>Collect customer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200" b="0" i="0">
                          <a:solidFill>
                            <a:schemeClr val="tx1"/>
                          </a:solidFill>
                          <a:effectLst/>
                        </a:rPr>
                        <a:t>Review high-risk cases</a:t>
                      </a:r>
                      <a:endParaRPr lang="en-IN" sz="22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61748"/>
                  </a:ext>
                </a:extLst>
              </a:tr>
              <a:tr h="67278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200" b="0" i="0">
                          <a:solidFill>
                            <a:schemeClr val="tx1"/>
                          </a:solidFill>
                          <a:effectLst/>
                        </a:rPr>
                        <a:t>Predict customer risk</a:t>
                      </a:r>
                      <a:endParaRPr lang="en-IN" sz="22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200" b="0" i="0" dirty="0">
                          <a:solidFill>
                            <a:schemeClr val="tx1"/>
                          </a:solidFill>
                          <a:effectLst/>
                        </a:rPr>
                        <a:t>Approve hardship plans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261243"/>
                  </a:ext>
                </a:extLst>
              </a:tr>
              <a:tr h="67278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200" b="0" i="0">
                          <a:solidFill>
                            <a:schemeClr val="tx1"/>
                          </a:solidFill>
                          <a:effectLst/>
                        </a:rPr>
                        <a:t>Classify risk levels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200" b="0" i="0">
                          <a:solidFill>
                            <a:schemeClr val="tx1"/>
                          </a:solidFill>
                          <a:effectLst/>
                        </a:rPr>
                        <a:t>Handle customer disputes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650175"/>
                  </a:ext>
                </a:extLst>
              </a:tr>
              <a:tr h="8314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200" b="0" i="0">
                          <a:solidFill>
                            <a:schemeClr val="tx1"/>
                          </a:solidFill>
                          <a:effectLst/>
                        </a:rPr>
                        <a:t>Send payment reminders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200" b="0" i="0" dirty="0">
                          <a:solidFill>
                            <a:schemeClr val="tx1"/>
                          </a:solidFill>
                          <a:effectLst/>
                        </a:rPr>
                        <a:t>Monitor fairness and compliance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184154"/>
                  </a:ext>
                </a:extLst>
              </a:tr>
              <a:tr h="46561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200" b="0" i="0">
                          <a:solidFill>
                            <a:schemeClr val="tx1"/>
                          </a:solidFill>
                          <a:effectLst/>
                        </a:rPr>
                        <a:t>Update model using new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200" b="0" i="0" dirty="0">
                          <a:solidFill>
                            <a:schemeClr val="tx1"/>
                          </a:solidFill>
                          <a:effectLst/>
                        </a:rPr>
                        <a:t>Review model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851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9580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AB0A254-22A8-C403-8DC6-65465BCF7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125" y="409575"/>
            <a:ext cx="10607675" cy="5767388"/>
          </a:xfrm>
        </p:spPr>
        <p:txBody>
          <a:bodyPr/>
          <a:lstStyle/>
          <a:p>
            <a:pPr marL="0" indent="0" algn="ctr">
              <a:buNone/>
            </a:pPr>
            <a:r>
              <a:rPr lang="en-IN" sz="3000" b="1" dirty="0">
                <a:latin typeface="+mj-lt"/>
              </a:rPr>
              <a:t>Responsible AI Guardrails</a:t>
            </a:r>
          </a:p>
          <a:p>
            <a:pPr marL="0" indent="0">
              <a:buNone/>
            </a:pPr>
            <a:r>
              <a:rPr lang="en-IN" sz="2400" b="1" dirty="0"/>
              <a:t>Responsible AI Principles</a:t>
            </a:r>
          </a:p>
          <a:p>
            <a:r>
              <a:rPr lang="en-IN" sz="2200" b="1" dirty="0"/>
              <a:t>Fairness:</a:t>
            </a:r>
            <a:r>
              <a:rPr lang="en-IN" sz="2200" dirty="0"/>
              <a:t> Regularly test the model to ensure all customer groups are treated fairly.</a:t>
            </a:r>
          </a:p>
          <a:p>
            <a:r>
              <a:rPr lang="en-IN" sz="2200" b="1" dirty="0"/>
              <a:t>Explainability:</a:t>
            </a:r>
            <a:r>
              <a:rPr lang="en-IN" sz="2200" dirty="0"/>
              <a:t> Clearly explain why a customer is identified as high, medium, or low risk.</a:t>
            </a:r>
          </a:p>
          <a:p>
            <a:r>
              <a:rPr lang="en-IN" sz="2200" b="1" dirty="0"/>
              <a:t>Compliance:</a:t>
            </a:r>
            <a:r>
              <a:rPr lang="en-IN" sz="2200" dirty="0"/>
              <a:t> Follow data privacy regulations and responsible lending policies.</a:t>
            </a:r>
          </a:p>
          <a:p>
            <a:r>
              <a:rPr lang="en-IN" sz="2200" b="1" dirty="0"/>
              <a:t>Human Oversight:</a:t>
            </a:r>
            <a:r>
              <a:rPr lang="en-IN" sz="2200" dirty="0"/>
              <a:t> Ensure important decisions are reviewed by the Collections team before final 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252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1553650-B29F-769F-4C42-5508CAD4F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938" y="554038"/>
            <a:ext cx="10583862" cy="5622925"/>
          </a:xfrm>
        </p:spPr>
        <p:txBody>
          <a:bodyPr/>
          <a:lstStyle/>
          <a:p>
            <a:pPr marL="0" indent="0" algn="ctr">
              <a:buNone/>
            </a:pPr>
            <a:r>
              <a:rPr lang="en-IN" sz="3000" b="1" dirty="0">
                <a:latin typeface="+mj-lt"/>
              </a:rPr>
              <a:t>Expected Business Impact</a:t>
            </a:r>
          </a:p>
          <a:p>
            <a:pPr marL="0" indent="0">
              <a:buNone/>
            </a:pPr>
            <a:r>
              <a:rPr lang="en-IN" sz="2400" b="1" dirty="0"/>
              <a:t>Business KPIs </a:t>
            </a:r>
          </a:p>
          <a:p>
            <a:r>
              <a:rPr lang="en-IN" sz="2200" dirty="0"/>
              <a:t>Reduce customer delinquency rates.</a:t>
            </a:r>
          </a:p>
          <a:p>
            <a:r>
              <a:rPr lang="en-IN" sz="2200" dirty="0"/>
              <a:t>Increase repayment and recovery rates.</a:t>
            </a:r>
          </a:p>
          <a:p>
            <a:r>
              <a:rPr lang="en-IN" sz="2200" dirty="0"/>
              <a:t>Lower collection costs through automation.</a:t>
            </a:r>
          </a:p>
          <a:p>
            <a:r>
              <a:rPr lang="en-IN" sz="2200" dirty="0"/>
              <a:t>Improve operational efficiency and scalability.</a:t>
            </a:r>
          </a:p>
          <a:p>
            <a:pPr marL="0" indent="0">
              <a:buNone/>
            </a:pPr>
            <a:r>
              <a:rPr lang="en-IN" sz="2400" b="1" dirty="0"/>
              <a:t>Customer Outcomes</a:t>
            </a:r>
          </a:p>
          <a:p>
            <a:r>
              <a:rPr lang="en-IN" sz="2200" dirty="0"/>
              <a:t>Provide earlier support for customers at risk.</a:t>
            </a:r>
          </a:p>
          <a:p>
            <a:r>
              <a:rPr lang="en-IN" sz="2200" dirty="0"/>
              <a:t>Deliver fair and consistent collection decisions.</a:t>
            </a:r>
          </a:p>
          <a:p>
            <a:r>
              <a:rPr lang="en-IN" sz="2200" dirty="0"/>
              <a:t>Improve customer communication and experience.</a:t>
            </a:r>
          </a:p>
          <a:p>
            <a:r>
              <a:rPr lang="en-IN" sz="2200" dirty="0"/>
              <a:t>Build trust through transparent and responsible AI.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595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372</Words>
  <Application>Microsoft Macintosh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Role of Agentic AI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PUJITHA REDDY</dc:creator>
  <cp:lastModifiedBy>PUJITHA REDDY</cp:lastModifiedBy>
  <cp:revision>1</cp:revision>
  <dcterms:created xsi:type="dcterms:W3CDTF">2026-06-29T10:55:35Z</dcterms:created>
  <dcterms:modified xsi:type="dcterms:W3CDTF">2026-06-29T11:33:06Z</dcterms:modified>
</cp:coreProperties>
</file>